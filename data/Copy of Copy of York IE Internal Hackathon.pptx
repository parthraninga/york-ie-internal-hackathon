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 ExtraBold"/>
      <p:bold r:id="rId13"/>
      <p:boldItalic r:id="rId14"/>
    </p:embeddedFont>
    <p:embeddedFont>
      <p:font typeface="Roboto"/>
      <p:regular r:id="rId15"/>
      <p:bold r:id="rId16"/>
      <p:italic r:id="rId17"/>
      <p:boldItalic r:id="rId18"/>
    </p:embeddedFont>
    <p:embeddedFont>
      <p:font typeface="Roboto Medium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893A7F-7FB5-408D-85F3-46BF292A5596}">
  <a:tblStyle styleId="{B8893A7F-7FB5-408D-85F3-46BF292A559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edium-bold.fntdata"/><Relationship Id="rId11" Type="http://schemas.openxmlformats.org/officeDocument/2006/relationships/slide" Target="slides/slide6.xml"/><Relationship Id="rId22" Type="http://schemas.openxmlformats.org/officeDocument/2006/relationships/font" Target="fonts/RobotoMedium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Medium-italic.fntdata"/><Relationship Id="rId13" Type="http://schemas.openxmlformats.org/officeDocument/2006/relationships/font" Target="fonts/RobotoExtraBold-bold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font" Target="fonts/RobotoExtraBold-boldItalic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edium-regular.fnt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c88fd39470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c88fd39470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c88fd39470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c88fd39470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47058ec6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47058ec6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16fcf794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616fcf794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47058ec6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c47058ec6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47058ec60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c47058ec60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7aebe86d3a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7aebe86d3a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9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7.png"/><Relationship Id="rId8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mple Layout (Heading only)">
  <p:cSld name="Two Conten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 flipH="1" rot="-5400000">
            <a:off x="8379285" y="-11428"/>
            <a:ext cx="772500" cy="772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 flipH="1">
            <a:off x="8767500" y="4928375"/>
            <a:ext cx="386100" cy="2283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7150811" y="4888625"/>
            <a:ext cx="167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 Medium"/>
                <a:ea typeface="Roboto Medium"/>
                <a:cs typeface="Roboto Medium"/>
                <a:sym typeface="Roboto Medium"/>
              </a:rPr>
              <a:t>York IE Private and Confidential</a:t>
            </a:r>
            <a:endParaRPr sz="800"/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-3696" r="75963" t="0"/>
          <a:stretch/>
        </p:blipFill>
        <p:spPr>
          <a:xfrm>
            <a:off x="8712144" y="80425"/>
            <a:ext cx="386100" cy="3184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16;p2"/>
          <p:cNvCxnSpPr>
            <a:endCxn id="14" idx="1"/>
          </p:cNvCxnSpPr>
          <p:nvPr/>
        </p:nvCxnSpPr>
        <p:spPr>
          <a:xfrm>
            <a:off x="-23689" y="5042525"/>
            <a:ext cx="71745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595300" y="4935425"/>
            <a:ext cx="548700" cy="261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2"/>
          <p:cNvSpPr/>
          <p:nvPr/>
        </p:nvSpPr>
        <p:spPr>
          <a:xfrm rot="5400000">
            <a:off x="2131200" y="-1902025"/>
            <a:ext cx="396600" cy="4659000"/>
          </a:xfrm>
          <a:prstGeom prst="round2SameRect">
            <a:avLst>
              <a:gd fmla="val 39529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2"/>
          <p:cNvSpPr txBox="1"/>
          <p:nvPr/>
        </p:nvSpPr>
        <p:spPr>
          <a:xfrm>
            <a:off x="213550" y="273575"/>
            <a:ext cx="38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Heading</a:t>
            </a:r>
            <a:endParaRPr sz="20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mple Layout (Heading + Table)">
  <p:cSld name="Two Content_2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 flipH="1" rot="-5400000">
            <a:off x="8379285" y="-11428"/>
            <a:ext cx="772500" cy="772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 flipH="1">
            <a:off x="8767500" y="4928375"/>
            <a:ext cx="386100" cy="2283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7150811" y="4888625"/>
            <a:ext cx="167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 Medium"/>
                <a:ea typeface="Roboto Medium"/>
                <a:cs typeface="Roboto Medium"/>
                <a:sym typeface="Roboto Medium"/>
              </a:rPr>
              <a:t>York IE Private and Confidential</a:t>
            </a:r>
            <a:endParaRPr sz="800"/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2">
            <a:alphaModFix/>
          </a:blip>
          <a:srcRect b="0" l="-3696" r="75963" t="0"/>
          <a:stretch/>
        </p:blipFill>
        <p:spPr>
          <a:xfrm>
            <a:off x="8712144" y="80425"/>
            <a:ext cx="386100" cy="3184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Google Shape;25;p3"/>
          <p:cNvCxnSpPr>
            <a:endCxn id="23" idx="1"/>
          </p:cNvCxnSpPr>
          <p:nvPr/>
        </p:nvCxnSpPr>
        <p:spPr>
          <a:xfrm>
            <a:off x="-23689" y="5042525"/>
            <a:ext cx="71745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595300" y="4935425"/>
            <a:ext cx="548700" cy="261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3"/>
          <p:cNvSpPr/>
          <p:nvPr/>
        </p:nvSpPr>
        <p:spPr>
          <a:xfrm rot="5400000">
            <a:off x="2131200" y="-1902025"/>
            <a:ext cx="396600" cy="4659000"/>
          </a:xfrm>
          <a:prstGeom prst="round2SameRect">
            <a:avLst>
              <a:gd fmla="val 39529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 txBox="1"/>
          <p:nvPr/>
        </p:nvSpPr>
        <p:spPr>
          <a:xfrm>
            <a:off x="213550" y="273575"/>
            <a:ext cx="38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Heading</a:t>
            </a:r>
            <a:endParaRPr sz="20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aphicFrame>
        <p:nvGraphicFramePr>
          <p:cNvPr id="29" name="Google Shape;29;p3"/>
          <p:cNvGraphicFramePr/>
          <p:nvPr/>
        </p:nvGraphicFramePr>
        <p:xfrm>
          <a:off x="925150" y="114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{B8893A7F-7FB5-408D-85F3-46BF292A5596}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Header</a:t>
                      </a:r>
                      <a:endParaRPr>
                        <a:solidFill>
                          <a:schemeClr val="lt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Header</a:t>
                      </a:r>
                      <a:endParaRPr>
                        <a:solidFill>
                          <a:schemeClr val="lt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Header</a:t>
                      </a:r>
                      <a:endParaRPr>
                        <a:solidFill>
                          <a:schemeClr val="lt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Header</a:t>
                      </a:r>
                      <a:endParaRPr>
                        <a:solidFill>
                          <a:schemeClr val="lt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mple Layout (Heading + Bullets)">
  <p:cSld name="Two Content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 flipH="1" rot="-5400000">
            <a:off x="8379285" y="-11428"/>
            <a:ext cx="772500" cy="772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 flipH="1">
            <a:off x="8767500" y="4928375"/>
            <a:ext cx="386100" cy="2283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7150811" y="4888625"/>
            <a:ext cx="167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 Medium"/>
                <a:ea typeface="Roboto Medium"/>
                <a:cs typeface="Roboto Medium"/>
                <a:sym typeface="Roboto Medium"/>
              </a:rPr>
              <a:t>York IE Private and Confidential</a:t>
            </a:r>
            <a:endParaRPr sz="800"/>
          </a:p>
        </p:txBody>
      </p:sp>
      <p:pic>
        <p:nvPicPr>
          <p:cNvPr id="34" name="Google Shape;34;p4"/>
          <p:cNvPicPr preferRelativeResize="0"/>
          <p:nvPr/>
        </p:nvPicPr>
        <p:blipFill rotWithShape="1">
          <a:blip r:embed="rId2">
            <a:alphaModFix/>
          </a:blip>
          <a:srcRect b="0" l="-3696" r="75963" t="0"/>
          <a:stretch/>
        </p:blipFill>
        <p:spPr>
          <a:xfrm>
            <a:off x="8712144" y="80425"/>
            <a:ext cx="386100" cy="3184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" name="Google Shape;35;p4"/>
          <p:cNvCxnSpPr>
            <a:endCxn id="33" idx="1"/>
          </p:cNvCxnSpPr>
          <p:nvPr/>
        </p:nvCxnSpPr>
        <p:spPr>
          <a:xfrm>
            <a:off x="-23689" y="5042525"/>
            <a:ext cx="71745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595300" y="4935425"/>
            <a:ext cx="548700" cy="261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4"/>
          <p:cNvSpPr/>
          <p:nvPr/>
        </p:nvSpPr>
        <p:spPr>
          <a:xfrm rot="5400000">
            <a:off x="2131200" y="-1902025"/>
            <a:ext cx="396600" cy="4659000"/>
          </a:xfrm>
          <a:prstGeom prst="round2SameRect">
            <a:avLst>
              <a:gd fmla="val 39529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 txBox="1"/>
          <p:nvPr/>
        </p:nvSpPr>
        <p:spPr>
          <a:xfrm>
            <a:off x="213550" y="273575"/>
            <a:ext cx="38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Heading</a:t>
            </a:r>
            <a:endParaRPr sz="20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678475" y="1391632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"/>
              <a:buNone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"/>
              <a:buChar char="•"/>
              <a:defRPr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•"/>
              <a:defRPr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Roboto"/>
              <a:buChar char="•"/>
              <a:defRPr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•"/>
              <a:defRPr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•"/>
              <a:defRPr i="0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•"/>
              <a:defRPr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•"/>
              <a:defRPr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•"/>
              <a:defRPr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">
  <p:cSld name="CUSTOM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Clr>
                <a:srgbClr val="000000"/>
              </a:buClr>
              <a:buSzPts val="800"/>
              <a:buFont typeface="Arial"/>
              <a:buNone/>
              <a:defRPr/>
            </a:lvl1pPr>
            <a:lvl2pPr lvl="1">
              <a:buClr>
                <a:srgbClr val="000000"/>
              </a:buClr>
              <a:buSzPts val="800"/>
              <a:buFont typeface="Arial"/>
              <a:buNone/>
              <a:defRPr/>
            </a:lvl2pPr>
            <a:lvl3pPr lvl="2">
              <a:buClr>
                <a:srgbClr val="000000"/>
              </a:buClr>
              <a:buSzPts val="800"/>
              <a:buFont typeface="Arial"/>
              <a:buNone/>
              <a:defRPr/>
            </a:lvl3pPr>
            <a:lvl4pPr lvl="3">
              <a:buClr>
                <a:srgbClr val="000000"/>
              </a:buClr>
              <a:buSzPts val="800"/>
              <a:buFont typeface="Arial"/>
              <a:buNone/>
              <a:defRPr/>
            </a:lvl4pPr>
            <a:lvl5pPr lvl="4">
              <a:buClr>
                <a:srgbClr val="000000"/>
              </a:buClr>
              <a:buSzPts val="800"/>
              <a:buFont typeface="Arial"/>
              <a:buNone/>
              <a:defRPr/>
            </a:lvl5pPr>
            <a:lvl6pPr lvl="5">
              <a:buClr>
                <a:srgbClr val="000000"/>
              </a:buClr>
              <a:buSzPts val="800"/>
              <a:buFont typeface="Arial"/>
              <a:buNone/>
              <a:defRPr/>
            </a:lvl6pPr>
            <a:lvl7pPr lvl="6">
              <a:buClr>
                <a:srgbClr val="000000"/>
              </a:buClr>
              <a:buSzPts val="800"/>
              <a:buFont typeface="Arial"/>
              <a:buNone/>
              <a:defRPr/>
            </a:lvl7pPr>
            <a:lvl8pPr lvl="7">
              <a:buClr>
                <a:srgbClr val="000000"/>
              </a:buClr>
              <a:buSzPts val="800"/>
              <a:buFont typeface="Arial"/>
              <a:buNone/>
              <a:defRPr/>
            </a:lvl8pPr>
            <a:lvl9pPr lvl="8">
              <a:buClr>
                <a:srgbClr val="000000"/>
              </a:buClr>
              <a:buSzPts val="8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2" name="Google Shape;42;p5" title="pattern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8313"/>
            <a:ext cx="9209098" cy="5180126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/>
          <p:nvPr/>
        </p:nvSpPr>
        <p:spPr>
          <a:xfrm>
            <a:off x="0" y="2169800"/>
            <a:ext cx="5384100" cy="1595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57188" rotWithShape="0" algn="bl" dir="5400000" dist="1238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 txBox="1"/>
          <p:nvPr/>
        </p:nvSpPr>
        <p:spPr>
          <a:xfrm>
            <a:off x="2039914" y="3054263"/>
            <a:ext cx="27999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1600">
                <a:solidFill>
                  <a:srgbClr val="262C2A"/>
                </a:solidFill>
                <a:latin typeface="Roboto"/>
                <a:ea typeface="Roboto"/>
                <a:cs typeface="Roboto"/>
                <a:sym typeface="Roboto"/>
              </a:rPr>
              <a:t>Transition Slide</a:t>
            </a:r>
            <a:endParaRPr b="1" i="1" sz="1600" u="none" cap="none" strike="noStrike">
              <a:solidFill>
                <a:srgbClr val="262C2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 title="pattern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8313"/>
            <a:ext cx="9209098" cy="518012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/>
          <p:nvPr/>
        </p:nvSpPr>
        <p:spPr>
          <a:xfrm>
            <a:off x="0" y="1290850"/>
            <a:ext cx="5384100" cy="2474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57188" rotWithShape="0" algn="bl" dir="5400000" dist="1238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"/>
          <p:cNvSpPr txBox="1"/>
          <p:nvPr/>
        </p:nvSpPr>
        <p:spPr>
          <a:xfrm>
            <a:off x="2039914" y="3054263"/>
            <a:ext cx="27999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1600">
                <a:solidFill>
                  <a:srgbClr val="262C2A"/>
                </a:solidFill>
                <a:latin typeface="Roboto"/>
                <a:ea typeface="Roboto"/>
                <a:cs typeface="Roboto"/>
                <a:sym typeface="Roboto"/>
              </a:rPr>
              <a:t>Title</a:t>
            </a:r>
            <a:endParaRPr b="1" i="1" sz="1600" u="none" cap="none" strike="noStrike">
              <a:solidFill>
                <a:srgbClr val="262C2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150" y="1774716"/>
            <a:ext cx="4481200" cy="101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mple Layout (Heading + Text)" type="tx">
  <p:cSld name="TITLE_AND_BOD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/>
          <p:nvPr/>
        </p:nvSpPr>
        <p:spPr>
          <a:xfrm flipH="1" rot="-5400000">
            <a:off x="8379285" y="-11428"/>
            <a:ext cx="772500" cy="772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 flipH="1">
            <a:off x="8767500" y="4928375"/>
            <a:ext cx="386100" cy="2283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7150811" y="4888625"/>
            <a:ext cx="167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 Medium"/>
                <a:ea typeface="Roboto Medium"/>
                <a:cs typeface="Roboto Medium"/>
                <a:sym typeface="Roboto Medium"/>
              </a:rPr>
              <a:t>York IE Private and Confidential</a:t>
            </a:r>
            <a:endParaRPr sz="800"/>
          </a:p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2">
            <a:alphaModFix/>
          </a:blip>
          <a:srcRect b="0" l="-3696" r="75963" t="0"/>
          <a:stretch/>
        </p:blipFill>
        <p:spPr>
          <a:xfrm>
            <a:off x="8712144" y="80425"/>
            <a:ext cx="386100" cy="3184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7"/>
          <p:cNvCxnSpPr>
            <a:endCxn id="53" idx="1"/>
          </p:cNvCxnSpPr>
          <p:nvPr/>
        </p:nvCxnSpPr>
        <p:spPr>
          <a:xfrm>
            <a:off x="-23689" y="5042525"/>
            <a:ext cx="71745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8595300" y="4935425"/>
            <a:ext cx="548700" cy="261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7"/>
          <p:cNvSpPr/>
          <p:nvPr/>
        </p:nvSpPr>
        <p:spPr>
          <a:xfrm rot="5400000">
            <a:off x="2131200" y="-1902025"/>
            <a:ext cx="396600" cy="4659000"/>
          </a:xfrm>
          <a:prstGeom prst="round2SameRect">
            <a:avLst>
              <a:gd fmla="val 39529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"/>
          <p:cNvSpPr txBox="1"/>
          <p:nvPr/>
        </p:nvSpPr>
        <p:spPr>
          <a:xfrm>
            <a:off x="213550" y="273575"/>
            <a:ext cx="38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Heading</a:t>
            </a:r>
            <a:endParaRPr sz="20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9" name="Google Shape;59;p7"/>
          <p:cNvSpPr txBox="1"/>
          <p:nvPr/>
        </p:nvSpPr>
        <p:spPr>
          <a:xfrm>
            <a:off x="477750" y="738600"/>
            <a:ext cx="464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Text 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0" name="Google Shape;6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75" y="863217"/>
            <a:ext cx="159675" cy="158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mple Layout (Heading + Text + Image)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 flipH="1" rot="-5400000">
            <a:off x="8379285" y="-11428"/>
            <a:ext cx="772500" cy="772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/>
          <p:nvPr/>
        </p:nvSpPr>
        <p:spPr>
          <a:xfrm flipH="1">
            <a:off x="8767500" y="4928375"/>
            <a:ext cx="386100" cy="2283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4" name="Google Shape;64;p8"/>
          <p:cNvSpPr txBox="1"/>
          <p:nvPr/>
        </p:nvSpPr>
        <p:spPr>
          <a:xfrm>
            <a:off x="7150811" y="4888625"/>
            <a:ext cx="167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 Medium"/>
                <a:ea typeface="Roboto Medium"/>
                <a:cs typeface="Roboto Medium"/>
                <a:sym typeface="Roboto Medium"/>
              </a:rPr>
              <a:t>York IE Private and Confidential</a:t>
            </a:r>
            <a:endParaRPr sz="800"/>
          </a:p>
        </p:txBody>
      </p:sp>
      <p:pic>
        <p:nvPicPr>
          <p:cNvPr id="65" name="Google Shape;65;p8"/>
          <p:cNvPicPr preferRelativeResize="0"/>
          <p:nvPr/>
        </p:nvPicPr>
        <p:blipFill rotWithShape="1">
          <a:blip r:embed="rId2">
            <a:alphaModFix/>
          </a:blip>
          <a:srcRect b="0" l="-3696" r="75963" t="0"/>
          <a:stretch/>
        </p:blipFill>
        <p:spPr>
          <a:xfrm>
            <a:off x="8712144" y="80425"/>
            <a:ext cx="386100" cy="3184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8"/>
          <p:cNvCxnSpPr>
            <a:endCxn id="64" idx="1"/>
          </p:cNvCxnSpPr>
          <p:nvPr/>
        </p:nvCxnSpPr>
        <p:spPr>
          <a:xfrm>
            <a:off x="-23689" y="5042525"/>
            <a:ext cx="71745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8"/>
          <p:cNvSpPr txBox="1"/>
          <p:nvPr>
            <p:ph idx="12" type="sldNum"/>
          </p:nvPr>
        </p:nvSpPr>
        <p:spPr>
          <a:xfrm>
            <a:off x="8595300" y="4935425"/>
            <a:ext cx="548700" cy="261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8"/>
          <p:cNvSpPr/>
          <p:nvPr/>
        </p:nvSpPr>
        <p:spPr>
          <a:xfrm rot="5400000">
            <a:off x="2131200" y="-1902025"/>
            <a:ext cx="396600" cy="4659000"/>
          </a:xfrm>
          <a:prstGeom prst="round2SameRect">
            <a:avLst>
              <a:gd fmla="val 39529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8"/>
          <p:cNvSpPr txBox="1"/>
          <p:nvPr/>
        </p:nvSpPr>
        <p:spPr>
          <a:xfrm>
            <a:off x="213550" y="273575"/>
            <a:ext cx="38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Heading</a:t>
            </a:r>
            <a:endParaRPr sz="20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0" name="Google Shape;70;p8"/>
          <p:cNvSpPr txBox="1"/>
          <p:nvPr/>
        </p:nvSpPr>
        <p:spPr>
          <a:xfrm>
            <a:off x="477750" y="738600"/>
            <a:ext cx="464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Text 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1" name="Google Shape;7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75" y="863217"/>
            <a:ext cx="159675" cy="1589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emale employee working in the office at the computer. A day at the office in a working atmosphere (Provided by Getty Images)" id="72" name="Google Shape;72;p8"/>
          <p:cNvPicPr preferRelativeResize="0"/>
          <p:nvPr/>
        </p:nvPicPr>
        <p:blipFill rotWithShape="1">
          <a:blip r:embed="rId4">
            <a:alphaModFix/>
          </a:blip>
          <a:srcRect b="0" l="13861" r="13868" t="0"/>
          <a:stretch/>
        </p:blipFill>
        <p:spPr>
          <a:xfrm>
            <a:off x="4823400" y="932850"/>
            <a:ext cx="3944100" cy="3277800"/>
          </a:xfrm>
          <a:prstGeom prst="roundRect">
            <a:avLst>
              <a:gd fmla="val 6279" name="adj"/>
            </a:avLst>
          </a:prstGeom>
          <a:noFill/>
          <a:ln>
            <a:noFill/>
          </a:ln>
          <a:effectLst>
            <a:outerShdw blurRad="55561" rotWithShape="0" algn="bl" dir="5400000" dist="1852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OBJEC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3076131" y="3164650"/>
            <a:ext cx="2383800" cy="1227300"/>
          </a:xfrm>
          <a:prstGeom prst="roundRect">
            <a:avLst>
              <a:gd fmla="val 6656" name="adj"/>
            </a:avLst>
          </a:prstGeom>
          <a:solidFill>
            <a:srgbClr val="00B48A">
              <a:alpha val="12030"/>
            </a:srgbClr>
          </a:solidFill>
          <a:ln cap="flat" cmpd="sng" w="9525">
            <a:solidFill>
              <a:srgbClr val="00B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340513" y="3164650"/>
            <a:ext cx="2527800" cy="1227300"/>
          </a:xfrm>
          <a:prstGeom prst="roundRect">
            <a:avLst>
              <a:gd fmla="val 7420" name="adj"/>
            </a:avLst>
          </a:prstGeom>
          <a:solidFill>
            <a:srgbClr val="00B48A">
              <a:alpha val="1203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0"/>
          <p:cNvSpPr txBox="1"/>
          <p:nvPr/>
        </p:nvSpPr>
        <p:spPr>
          <a:xfrm>
            <a:off x="2942120" y="1594353"/>
            <a:ext cx="331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accent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Thank you!</a:t>
            </a:r>
            <a:endParaRPr sz="4000">
              <a:solidFill>
                <a:schemeClr val="accent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78" name="Google Shape;78;p10"/>
          <p:cNvSpPr txBox="1"/>
          <p:nvPr/>
        </p:nvSpPr>
        <p:spPr>
          <a:xfrm>
            <a:off x="221950" y="4703288"/>
            <a:ext cx="93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Follow Us</a:t>
            </a:r>
            <a:endParaRPr b="1" sz="12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8422" y="4769239"/>
            <a:ext cx="237377" cy="237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7952" y="4769239"/>
            <a:ext cx="237377" cy="237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4593" y="4769240"/>
            <a:ext cx="237377" cy="237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04120" y="4735313"/>
            <a:ext cx="305216" cy="3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51485" y="4769240"/>
            <a:ext cx="237377" cy="237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21266" y="4769240"/>
            <a:ext cx="237377" cy="2373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" name="Google Shape;85;p10"/>
          <p:cNvCxnSpPr/>
          <p:nvPr/>
        </p:nvCxnSpPr>
        <p:spPr>
          <a:xfrm>
            <a:off x="317250" y="4636200"/>
            <a:ext cx="8509500" cy="0"/>
          </a:xfrm>
          <a:prstGeom prst="straightConnector1">
            <a:avLst/>
          </a:prstGeom>
          <a:noFill/>
          <a:ln cap="flat" cmpd="sng" w="9525">
            <a:solidFill>
              <a:srgbClr val="61839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" name="Google Shape;86;p10"/>
          <p:cNvSpPr txBox="1"/>
          <p:nvPr/>
        </p:nvSpPr>
        <p:spPr>
          <a:xfrm>
            <a:off x="428833" y="3533755"/>
            <a:ext cx="20394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175 Canal Street</a:t>
            </a:r>
            <a:br>
              <a:rPr lang="en" sz="12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lang="en" sz="12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6th Floor</a:t>
            </a:r>
            <a:endParaRPr sz="12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Manchester, NH 03101</a:t>
            </a:r>
            <a:endParaRPr sz="12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7" name="Google Shape;87;p10"/>
          <p:cNvSpPr txBox="1"/>
          <p:nvPr/>
        </p:nvSpPr>
        <p:spPr>
          <a:xfrm>
            <a:off x="428839" y="3201325"/>
            <a:ext cx="234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Manchester</a:t>
            </a:r>
            <a:r>
              <a:rPr b="1"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, NH (HQ)</a:t>
            </a:r>
            <a:endParaRPr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0"/>
          <p:cNvSpPr txBox="1"/>
          <p:nvPr/>
        </p:nvSpPr>
        <p:spPr>
          <a:xfrm>
            <a:off x="3159764" y="3513994"/>
            <a:ext cx="16971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93 Summer Street</a:t>
            </a:r>
            <a:endParaRPr sz="12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4th Floor</a:t>
            </a:r>
            <a:br>
              <a:rPr lang="en" sz="12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lang="en" sz="12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Boston, MA 02110</a:t>
            </a:r>
            <a:endParaRPr sz="12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9" name="Google Shape;89;p10"/>
          <p:cNvSpPr txBox="1"/>
          <p:nvPr/>
        </p:nvSpPr>
        <p:spPr>
          <a:xfrm>
            <a:off x="3154658" y="3201329"/>
            <a:ext cx="131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Boston, MA</a:t>
            </a:r>
            <a:endParaRPr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0" name="Google Shape;90;p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17633" y="627914"/>
            <a:ext cx="2565473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/>
          <p:nvPr/>
        </p:nvSpPr>
        <p:spPr>
          <a:xfrm>
            <a:off x="5673910" y="3164650"/>
            <a:ext cx="3186300" cy="1227300"/>
          </a:xfrm>
          <a:prstGeom prst="roundRect">
            <a:avLst>
              <a:gd fmla="val 7927" name="adj"/>
            </a:avLst>
          </a:prstGeom>
          <a:solidFill>
            <a:srgbClr val="00B48A">
              <a:alpha val="12030"/>
            </a:srgbClr>
          </a:solidFill>
          <a:ln cap="flat" cmpd="sng" w="9525">
            <a:solidFill>
              <a:srgbClr val="00B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0"/>
          <p:cNvSpPr txBox="1"/>
          <p:nvPr/>
        </p:nvSpPr>
        <p:spPr>
          <a:xfrm>
            <a:off x="5805405" y="3551125"/>
            <a:ext cx="27786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2nd Floor, Eastface Behind Maruti Suzuki ARENA Isckon Ambli Road, Ambli Ahmedabad GJ 380058 IN.</a:t>
            </a:r>
            <a:endParaRPr sz="12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3" name="Google Shape;93;p10"/>
          <p:cNvSpPr txBox="1"/>
          <p:nvPr/>
        </p:nvSpPr>
        <p:spPr>
          <a:xfrm>
            <a:off x="5805406" y="3201329"/>
            <a:ext cx="180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Ahmedabad, India</a:t>
            </a:r>
            <a:endParaRPr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0"/>
          <p:cNvSpPr/>
          <p:nvPr/>
        </p:nvSpPr>
        <p:spPr>
          <a:xfrm flipH="1" rot="-5400000">
            <a:off x="8379285" y="-11428"/>
            <a:ext cx="772500" cy="772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0"/>
          <p:cNvPicPr preferRelativeResize="0"/>
          <p:nvPr/>
        </p:nvPicPr>
        <p:blipFill rotWithShape="1">
          <a:blip r:embed="rId9">
            <a:alphaModFix/>
          </a:blip>
          <a:srcRect b="0" l="-3696" r="75963" t="0"/>
          <a:stretch/>
        </p:blipFill>
        <p:spPr>
          <a:xfrm>
            <a:off x="8712144" y="80425"/>
            <a:ext cx="386100" cy="318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946403"/>
            <a:ext cx="78867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Roboto"/>
              <a:buNone/>
              <a:defRPr i="0" sz="19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800" u="none" cap="none" strike="noStrike">
                <a:solidFill>
                  <a:srgbClr val="8889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800" u="none" cap="none" strike="noStrike">
                <a:solidFill>
                  <a:srgbClr val="8889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98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98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98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98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98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98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98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98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9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678475" y="1391632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"/>
              <a:buChar char="●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"/>
              <a:buChar char="○"/>
              <a:defRPr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Roboto"/>
              <a:buChar char="●"/>
              <a:defRPr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○"/>
              <a:defRPr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■"/>
              <a:defRPr i="0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  <a:defRPr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○"/>
              <a:defRPr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■"/>
              <a:defRPr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10" Type="http://schemas.openxmlformats.org/officeDocument/2006/relationships/image" Target="../media/image1.png"/><Relationship Id="rId9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1" title="pattern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8313"/>
            <a:ext cx="9209098" cy="5180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1"/>
          <p:cNvSpPr/>
          <p:nvPr/>
        </p:nvSpPr>
        <p:spPr>
          <a:xfrm>
            <a:off x="0" y="1290850"/>
            <a:ext cx="5384100" cy="2474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57188" rotWithShape="0" algn="bl" dir="5400000" dist="1238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1"/>
          <p:cNvSpPr txBox="1"/>
          <p:nvPr/>
        </p:nvSpPr>
        <p:spPr>
          <a:xfrm>
            <a:off x="1083875" y="2984050"/>
            <a:ext cx="37560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2700">
                <a:solidFill>
                  <a:srgbClr val="262C2A"/>
                </a:solidFill>
                <a:latin typeface="Roboto"/>
                <a:ea typeface="Roboto"/>
                <a:cs typeface="Roboto"/>
                <a:sym typeface="Roboto"/>
              </a:rPr>
              <a:t>Internal Hackathon</a:t>
            </a:r>
            <a:endParaRPr b="1" i="1" sz="2700" u="none" cap="none" strike="noStrike">
              <a:solidFill>
                <a:srgbClr val="262C2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3" name="Google Shape;10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150" y="1774716"/>
            <a:ext cx="4481200" cy="101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1"/>
          <p:cNvSpPr txBox="1"/>
          <p:nvPr>
            <p:ph idx="12" type="sldNum"/>
          </p:nvPr>
        </p:nvSpPr>
        <p:spPr>
          <a:xfrm>
            <a:off x="8595300" y="4935425"/>
            <a:ext cx="548700" cy="261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/>
          <p:nvPr/>
        </p:nvSpPr>
        <p:spPr>
          <a:xfrm>
            <a:off x="594425" y="755963"/>
            <a:ext cx="7509900" cy="733500"/>
          </a:xfrm>
          <a:prstGeom prst="roundRect">
            <a:avLst>
              <a:gd fmla="val 2493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5FFFD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2"/>
          <p:cNvSpPr/>
          <p:nvPr/>
        </p:nvSpPr>
        <p:spPr>
          <a:xfrm rot="5400000">
            <a:off x="2132025" y="-1902600"/>
            <a:ext cx="396600" cy="4659000"/>
          </a:xfrm>
          <a:prstGeom prst="round2SameRect">
            <a:avLst>
              <a:gd fmla="val 39529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2"/>
          <p:cNvSpPr txBox="1"/>
          <p:nvPr/>
        </p:nvSpPr>
        <p:spPr>
          <a:xfrm>
            <a:off x="819484" y="1619791"/>
            <a:ext cx="464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You will receive 4 PDFs.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12"/>
          <p:cNvSpPr txBox="1"/>
          <p:nvPr/>
        </p:nvSpPr>
        <p:spPr>
          <a:xfrm>
            <a:off x="810309" y="1939766"/>
            <a:ext cx="464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Your system must: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2"/>
          <p:cNvSpPr txBox="1"/>
          <p:nvPr/>
        </p:nvSpPr>
        <p:spPr>
          <a:xfrm>
            <a:off x="806771" y="2254138"/>
            <a:ext cx="5880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Parse</a:t>
            </a:r>
            <a:r>
              <a:rPr lang="en" sz="1300">
                <a:latin typeface="Roboto"/>
                <a:ea typeface="Roboto"/>
                <a:cs typeface="Roboto"/>
                <a:sym typeface="Roboto"/>
              </a:rPr>
              <a:t> — Extract structured and unstructured content.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Store </a:t>
            </a:r>
            <a:r>
              <a:rPr lang="en" sz="1300">
                <a:latin typeface="Roboto"/>
                <a:ea typeface="Roboto"/>
                <a:cs typeface="Roboto"/>
                <a:sym typeface="Roboto"/>
              </a:rPr>
              <a:t>— Persist raw and processed data in Postgres.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Index </a:t>
            </a:r>
            <a:r>
              <a:rPr lang="en" sz="1300">
                <a:latin typeface="Roboto"/>
                <a:ea typeface="Roboto"/>
                <a:cs typeface="Roboto"/>
                <a:sym typeface="Roboto"/>
              </a:rPr>
              <a:t>— Create index-backed structures for fast retrieval.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Rank </a:t>
            </a:r>
            <a:r>
              <a:rPr lang="en" sz="1300">
                <a:latin typeface="Roboto"/>
                <a:ea typeface="Roboto"/>
                <a:cs typeface="Roboto"/>
                <a:sym typeface="Roboto"/>
              </a:rPr>
              <a:t>— Compute relevance entirely inside SQL.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Roboto"/>
                <a:ea typeface="Roboto"/>
                <a:cs typeface="Roboto"/>
                <a:sym typeface="Roboto"/>
              </a:rPr>
              <a:t>Retrieve </a:t>
            </a:r>
            <a:r>
              <a:rPr lang="en" sz="1300">
                <a:latin typeface="Roboto"/>
                <a:ea typeface="Roboto"/>
                <a:cs typeface="Roboto"/>
                <a:sym typeface="Roboto"/>
              </a:rPr>
              <a:t>— Return ordered results under performance constraints.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809" y="1744409"/>
            <a:ext cx="159675" cy="158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634" y="2067321"/>
            <a:ext cx="159675" cy="15892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2"/>
          <p:cNvSpPr txBox="1"/>
          <p:nvPr/>
        </p:nvSpPr>
        <p:spPr>
          <a:xfrm>
            <a:off x="213550" y="273575"/>
            <a:ext cx="38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Core Challenge</a:t>
            </a:r>
            <a:endParaRPr sz="20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17" name="Google Shape;117;p12"/>
          <p:cNvSpPr txBox="1"/>
          <p:nvPr>
            <p:ph idx="12" type="sldNum"/>
          </p:nvPr>
        </p:nvSpPr>
        <p:spPr>
          <a:xfrm>
            <a:off x="8595300" y="4935425"/>
            <a:ext cx="548700" cy="261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12"/>
          <p:cNvSpPr txBox="1"/>
          <p:nvPr/>
        </p:nvSpPr>
        <p:spPr>
          <a:xfrm>
            <a:off x="870725" y="900650"/>
            <a:ext cx="695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Build a Postgres-Native Document Intelligence Engine</a:t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12"/>
          <p:cNvSpPr txBox="1"/>
          <p:nvPr/>
        </p:nvSpPr>
        <p:spPr>
          <a:xfrm>
            <a:off x="810309" y="3635018"/>
            <a:ext cx="464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All intelligence must live inside Postgres.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0" name="Google Shape;120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634" y="3762573"/>
            <a:ext cx="159675" cy="15892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2"/>
          <p:cNvSpPr txBox="1"/>
          <p:nvPr/>
        </p:nvSpPr>
        <p:spPr>
          <a:xfrm>
            <a:off x="810309" y="3984809"/>
            <a:ext cx="464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Cursor / ChatGPT usage is allowed.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2" name="Google Shape;12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634" y="4112364"/>
            <a:ext cx="159675" cy="158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634" y="4500048"/>
            <a:ext cx="159675" cy="15894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2"/>
          <p:cNvSpPr txBox="1"/>
          <p:nvPr/>
        </p:nvSpPr>
        <p:spPr>
          <a:xfrm>
            <a:off x="810309" y="4369190"/>
            <a:ext cx="464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Architectural shortcuts are not.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/>
          <p:cNvSpPr/>
          <p:nvPr/>
        </p:nvSpPr>
        <p:spPr>
          <a:xfrm>
            <a:off x="448875" y="1849800"/>
            <a:ext cx="6253500" cy="2604900"/>
          </a:xfrm>
          <a:prstGeom prst="roundRect">
            <a:avLst>
              <a:gd fmla="val 6115" name="adj"/>
            </a:avLst>
          </a:prstGeom>
          <a:solidFill>
            <a:srgbClr val="00B48A">
              <a:alpha val="120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5FFFD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448875" y="756000"/>
            <a:ext cx="6253500" cy="963000"/>
          </a:xfrm>
          <a:prstGeom prst="roundRect">
            <a:avLst>
              <a:gd fmla="val 18191" name="adj"/>
            </a:avLst>
          </a:prstGeom>
          <a:solidFill>
            <a:srgbClr val="F4CCCC">
              <a:alpha val="329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5FFFD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3"/>
          <p:cNvSpPr/>
          <p:nvPr/>
        </p:nvSpPr>
        <p:spPr>
          <a:xfrm rot="5400000">
            <a:off x="2132025" y="-1902600"/>
            <a:ext cx="396600" cy="4659000"/>
          </a:xfrm>
          <a:prstGeom prst="round2SameRect">
            <a:avLst>
              <a:gd fmla="val 39529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213550" y="273575"/>
            <a:ext cx="38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Constraints (Non-Negotiable)</a:t>
            </a:r>
            <a:endParaRPr sz="20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3" name="Google Shape;133;p13"/>
          <p:cNvSpPr txBox="1"/>
          <p:nvPr>
            <p:ph idx="12" type="sldNum"/>
          </p:nvPr>
        </p:nvSpPr>
        <p:spPr>
          <a:xfrm>
            <a:off x="8595300" y="4935425"/>
            <a:ext cx="548700" cy="261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13"/>
          <p:cNvSpPr txBox="1"/>
          <p:nvPr/>
        </p:nvSpPr>
        <p:spPr>
          <a:xfrm>
            <a:off x="941684" y="2002743"/>
            <a:ext cx="464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Ranking must be computed in SQL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009" y="2130298"/>
            <a:ext cx="159675" cy="15892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3"/>
          <p:cNvSpPr txBox="1"/>
          <p:nvPr/>
        </p:nvSpPr>
        <p:spPr>
          <a:xfrm>
            <a:off x="941684" y="2378749"/>
            <a:ext cx="464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Must scale to 5,000+ records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7" name="Google Shape;13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009" y="2506304"/>
            <a:ext cx="159675" cy="158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009" y="1017330"/>
            <a:ext cx="159675" cy="15894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 txBox="1"/>
          <p:nvPr/>
        </p:nvSpPr>
        <p:spPr>
          <a:xfrm>
            <a:off x="941684" y="886472"/>
            <a:ext cx="464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 external search engines (Elastic, Redis, etc.)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0" name="Google Shape;14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009" y="1358437"/>
            <a:ext cx="159675" cy="15894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3"/>
          <p:cNvSpPr txBox="1"/>
          <p:nvPr/>
        </p:nvSpPr>
        <p:spPr>
          <a:xfrm>
            <a:off x="941684" y="1227579"/>
            <a:ext cx="464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 in-memory filtering or ranking in application code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941684" y="2735474"/>
            <a:ext cx="464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Query latency under 150ms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3" name="Google Shape;14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009" y="2863029"/>
            <a:ext cx="159675" cy="15892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941684" y="3153974"/>
            <a:ext cx="464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Minimum 3 Postgres extensions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5" name="Google Shape;14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009" y="3281529"/>
            <a:ext cx="159675" cy="15892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3"/>
          <p:cNvSpPr txBox="1"/>
          <p:nvPr/>
        </p:nvSpPr>
        <p:spPr>
          <a:xfrm>
            <a:off x="941684" y="3531674"/>
            <a:ext cx="464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At least 3 handwritten SQL functions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7" name="Google Shape;14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009" y="3659229"/>
            <a:ext cx="159675" cy="15892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3"/>
          <p:cNvSpPr txBox="1"/>
          <p:nvPr/>
        </p:nvSpPr>
        <p:spPr>
          <a:xfrm>
            <a:off x="941675" y="3907300"/>
            <a:ext cx="605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Schema must be submitted as raw SQL (no ORM-generated DDL)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9" name="Google Shape;14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009" y="4034858"/>
            <a:ext cx="159675" cy="15892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3"/>
          <p:cNvSpPr txBox="1"/>
          <p:nvPr/>
        </p:nvSpPr>
        <p:spPr>
          <a:xfrm>
            <a:off x="1939850" y="45172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Performance will be tested live.</a:t>
            </a:r>
            <a:endParaRPr b="1" sz="17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"/>
          <p:cNvSpPr/>
          <p:nvPr/>
        </p:nvSpPr>
        <p:spPr>
          <a:xfrm rot="5400000">
            <a:off x="2132025" y="-1902600"/>
            <a:ext cx="396600" cy="4659000"/>
          </a:xfrm>
          <a:prstGeom prst="round2SameRect">
            <a:avLst>
              <a:gd fmla="val 39529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4"/>
          <p:cNvSpPr/>
          <p:nvPr/>
        </p:nvSpPr>
        <p:spPr>
          <a:xfrm>
            <a:off x="1184500" y="1280945"/>
            <a:ext cx="5548800" cy="1426200"/>
          </a:xfrm>
          <a:prstGeom prst="roundRect">
            <a:avLst>
              <a:gd fmla="val 10555" name="adj"/>
            </a:avLst>
          </a:prstGeom>
          <a:solidFill>
            <a:srgbClr val="61839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4"/>
          <p:cNvSpPr txBox="1"/>
          <p:nvPr/>
        </p:nvSpPr>
        <p:spPr>
          <a:xfrm>
            <a:off x="1804200" y="1852275"/>
            <a:ext cx="3604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71E22"/>
                </a:solidFill>
                <a:latin typeface="Roboto"/>
                <a:ea typeface="Roboto"/>
                <a:cs typeface="Roboto"/>
                <a:sym typeface="Roboto"/>
              </a:rPr>
              <a:t>Search must tolerate spelling errors and still return relevant results.</a:t>
            </a:r>
            <a:endParaRPr b="1" sz="1600">
              <a:solidFill>
                <a:srgbClr val="071E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14"/>
          <p:cNvSpPr txBox="1"/>
          <p:nvPr/>
        </p:nvSpPr>
        <p:spPr>
          <a:xfrm>
            <a:off x="1804200" y="1486865"/>
            <a:ext cx="406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71E22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Fuzzy Misspelling Support</a:t>
            </a:r>
            <a:endParaRPr sz="1800">
              <a:solidFill>
                <a:srgbClr val="071E22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645875" y="1508020"/>
            <a:ext cx="972000" cy="972000"/>
          </a:xfrm>
          <a:prstGeom prst="ellipse">
            <a:avLst/>
          </a:prstGeom>
          <a:solidFill>
            <a:srgbClr val="618395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"/>
          <p:cNvSpPr txBox="1"/>
          <p:nvPr/>
        </p:nvSpPr>
        <p:spPr>
          <a:xfrm>
            <a:off x="213550" y="273575"/>
            <a:ext cx="426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Functional Requirements</a:t>
            </a:r>
            <a:endParaRPr sz="20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1" name="Google Shape;161;p14"/>
          <p:cNvSpPr txBox="1"/>
          <p:nvPr>
            <p:ph idx="12" type="sldNum"/>
          </p:nvPr>
        </p:nvSpPr>
        <p:spPr>
          <a:xfrm>
            <a:off x="8595300" y="4935425"/>
            <a:ext cx="548700" cy="261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14"/>
          <p:cNvSpPr txBox="1"/>
          <p:nvPr/>
        </p:nvSpPr>
        <p:spPr>
          <a:xfrm>
            <a:off x="2222500" y="7365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Your system must support: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14"/>
          <p:cNvSpPr txBox="1"/>
          <p:nvPr/>
        </p:nvSpPr>
        <p:spPr>
          <a:xfrm>
            <a:off x="829625" y="1747720"/>
            <a:ext cx="604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01</a:t>
            </a:r>
            <a:endParaRPr sz="2000">
              <a:solidFill>
                <a:schemeClr val="lt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1184500" y="2841000"/>
            <a:ext cx="5548800" cy="1702500"/>
          </a:xfrm>
          <a:prstGeom prst="roundRect">
            <a:avLst>
              <a:gd fmla="val 10555" name="adj"/>
            </a:avLst>
          </a:prstGeom>
          <a:solidFill>
            <a:srgbClr val="00B48A">
              <a:alpha val="120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4"/>
          <p:cNvSpPr txBox="1"/>
          <p:nvPr/>
        </p:nvSpPr>
        <p:spPr>
          <a:xfrm>
            <a:off x="1804200" y="3412325"/>
            <a:ext cx="4797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71E22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rgbClr val="071E22"/>
                </a:solidFill>
                <a:latin typeface="Roboto"/>
                <a:ea typeface="Roboto"/>
                <a:cs typeface="Roboto"/>
                <a:sym typeface="Roboto"/>
              </a:rPr>
              <a:t>When a document is updated, search results must reflect changes automatically.</a:t>
            </a:r>
            <a:endParaRPr sz="1600">
              <a:solidFill>
                <a:srgbClr val="071E2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71E22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rgbClr val="071E22"/>
                </a:solidFill>
                <a:latin typeface="Roboto"/>
                <a:ea typeface="Roboto"/>
                <a:cs typeface="Roboto"/>
                <a:sym typeface="Roboto"/>
              </a:rPr>
              <a:t>Manual re-index commands are not allowed.</a:t>
            </a:r>
            <a:endParaRPr sz="1600">
              <a:solidFill>
                <a:srgbClr val="071E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14"/>
          <p:cNvSpPr txBox="1"/>
          <p:nvPr/>
        </p:nvSpPr>
        <p:spPr>
          <a:xfrm>
            <a:off x="1804200" y="3046920"/>
            <a:ext cx="406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71E22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Real-Time Update Handling</a:t>
            </a:r>
            <a:endParaRPr sz="1800">
              <a:solidFill>
                <a:srgbClr val="071E22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645875" y="3206250"/>
            <a:ext cx="972000" cy="972000"/>
          </a:xfrm>
          <a:prstGeom prst="ellipse">
            <a:avLst/>
          </a:prstGeom>
          <a:solidFill>
            <a:schemeClr val="accent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4"/>
          <p:cNvSpPr txBox="1"/>
          <p:nvPr/>
        </p:nvSpPr>
        <p:spPr>
          <a:xfrm>
            <a:off x="829625" y="3445950"/>
            <a:ext cx="604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02</a:t>
            </a:r>
            <a:endParaRPr sz="2000">
              <a:solidFill>
                <a:schemeClr val="lt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"/>
          <p:cNvSpPr/>
          <p:nvPr/>
        </p:nvSpPr>
        <p:spPr>
          <a:xfrm>
            <a:off x="1812200" y="1750938"/>
            <a:ext cx="5360100" cy="461700"/>
          </a:xfrm>
          <a:prstGeom prst="roundRect">
            <a:avLst>
              <a:gd fmla="val 24935" name="adj"/>
            </a:avLst>
          </a:prstGeom>
          <a:solidFill>
            <a:srgbClr val="61839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5FFFD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5"/>
          <p:cNvSpPr/>
          <p:nvPr/>
        </p:nvSpPr>
        <p:spPr>
          <a:xfrm rot="5400000">
            <a:off x="2132025" y="-1902600"/>
            <a:ext cx="396600" cy="4659000"/>
          </a:xfrm>
          <a:prstGeom prst="round2SameRect">
            <a:avLst>
              <a:gd fmla="val 39529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5"/>
          <p:cNvSpPr txBox="1"/>
          <p:nvPr/>
        </p:nvSpPr>
        <p:spPr>
          <a:xfrm>
            <a:off x="213550" y="273575"/>
            <a:ext cx="426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Time Structure</a:t>
            </a:r>
            <a:endParaRPr sz="20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6" name="Google Shape;176;p15"/>
          <p:cNvSpPr txBox="1"/>
          <p:nvPr>
            <p:ph idx="12" type="sldNum"/>
          </p:nvPr>
        </p:nvSpPr>
        <p:spPr>
          <a:xfrm>
            <a:off x="8595300" y="4935425"/>
            <a:ext cx="548700" cy="261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7" name="Google Shape;177;p15"/>
          <p:cNvSpPr/>
          <p:nvPr/>
        </p:nvSpPr>
        <p:spPr>
          <a:xfrm>
            <a:off x="842575" y="810700"/>
            <a:ext cx="6329700" cy="733500"/>
          </a:xfrm>
          <a:prstGeom prst="roundRect">
            <a:avLst>
              <a:gd fmla="val 2096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5FFFD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1093225" y="955375"/>
            <a:ext cx="587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Total Duration: 2.5 Hours</a:t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842575" y="1750938"/>
            <a:ext cx="2738400" cy="461700"/>
          </a:xfrm>
          <a:prstGeom prst="roundRect">
            <a:avLst>
              <a:gd fmla="val 2493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5FFFD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930161" y="1750938"/>
            <a:ext cx="253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20 minutes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15"/>
          <p:cNvSpPr txBox="1"/>
          <p:nvPr/>
        </p:nvSpPr>
        <p:spPr>
          <a:xfrm>
            <a:off x="4231875" y="1750938"/>
            <a:ext cx="220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Team planning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1812200" y="2284813"/>
            <a:ext cx="5360100" cy="461700"/>
          </a:xfrm>
          <a:prstGeom prst="roundRect">
            <a:avLst>
              <a:gd fmla="val 24935" name="adj"/>
            </a:avLst>
          </a:prstGeom>
          <a:solidFill>
            <a:srgbClr val="61839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5FFFD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842575" y="2284813"/>
            <a:ext cx="2738400" cy="461700"/>
          </a:xfrm>
          <a:prstGeom prst="roundRect">
            <a:avLst>
              <a:gd fmla="val 2493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5FFFD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5"/>
          <p:cNvSpPr txBox="1"/>
          <p:nvPr/>
        </p:nvSpPr>
        <p:spPr>
          <a:xfrm>
            <a:off x="930161" y="2284813"/>
            <a:ext cx="253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10 minutes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15"/>
          <p:cNvSpPr txBox="1"/>
          <p:nvPr/>
        </p:nvSpPr>
        <p:spPr>
          <a:xfrm>
            <a:off x="3699975" y="2284813"/>
            <a:ext cx="3270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clarification window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1812200" y="2818688"/>
            <a:ext cx="5360100" cy="461700"/>
          </a:xfrm>
          <a:prstGeom prst="roundRect">
            <a:avLst>
              <a:gd fmla="val 24935" name="adj"/>
            </a:avLst>
          </a:prstGeom>
          <a:solidFill>
            <a:srgbClr val="61839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5FFFD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842575" y="2818688"/>
            <a:ext cx="2738400" cy="461700"/>
          </a:xfrm>
          <a:prstGeom prst="roundRect">
            <a:avLst>
              <a:gd fmla="val 2493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5FFFD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930161" y="2818688"/>
            <a:ext cx="253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 hours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4231875" y="2818688"/>
            <a:ext cx="220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Build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1812200" y="3352563"/>
            <a:ext cx="5360100" cy="461700"/>
          </a:xfrm>
          <a:prstGeom prst="roundRect">
            <a:avLst>
              <a:gd fmla="val 24935" name="adj"/>
            </a:avLst>
          </a:prstGeom>
          <a:solidFill>
            <a:srgbClr val="618395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5FFFD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842575" y="3352563"/>
            <a:ext cx="2738400" cy="461700"/>
          </a:xfrm>
          <a:prstGeom prst="roundRect">
            <a:avLst>
              <a:gd fmla="val 2493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5FFFD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930161" y="3352563"/>
            <a:ext cx="253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Final 30 minutes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15"/>
          <p:cNvSpPr txBox="1"/>
          <p:nvPr/>
        </p:nvSpPr>
        <p:spPr>
          <a:xfrm>
            <a:off x="4231875" y="3352563"/>
            <a:ext cx="220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Evaluation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15"/>
          <p:cNvSpPr txBox="1"/>
          <p:nvPr/>
        </p:nvSpPr>
        <p:spPr>
          <a:xfrm>
            <a:off x="2053750" y="4021000"/>
            <a:ext cx="44496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If your indexing strategy is unclear in the first 30 minutes, you are behind.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"/>
          <p:cNvSpPr/>
          <p:nvPr/>
        </p:nvSpPr>
        <p:spPr>
          <a:xfrm rot="5400000">
            <a:off x="2132025" y="-1902600"/>
            <a:ext cx="396600" cy="4659000"/>
          </a:xfrm>
          <a:prstGeom prst="round2SameRect">
            <a:avLst>
              <a:gd fmla="val 39529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6"/>
          <p:cNvSpPr txBox="1"/>
          <p:nvPr/>
        </p:nvSpPr>
        <p:spPr>
          <a:xfrm>
            <a:off x="213550" y="273575"/>
            <a:ext cx="426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Evaluation Format</a:t>
            </a:r>
            <a:endParaRPr sz="20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01" name="Google Shape;201;p16"/>
          <p:cNvSpPr txBox="1"/>
          <p:nvPr>
            <p:ph idx="12" type="sldNum"/>
          </p:nvPr>
        </p:nvSpPr>
        <p:spPr>
          <a:xfrm>
            <a:off x="8595300" y="4935425"/>
            <a:ext cx="548700" cy="261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2" name="Google Shape;202;p16"/>
          <p:cNvSpPr/>
          <p:nvPr/>
        </p:nvSpPr>
        <p:spPr>
          <a:xfrm>
            <a:off x="594425" y="755963"/>
            <a:ext cx="7509900" cy="733500"/>
          </a:xfrm>
          <a:prstGeom prst="roundRect">
            <a:avLst>
              <a:gd fmla="val 2493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5FFFD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6"/>
          <p:cNvSpPr txBox="1"/>
          <p:nvPr/>
        </p:nvSpPr>
        <p:spPr>
          <a:xfrm>
            <a:off x="870725" y="889702"/>
            <a:ext cx="695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Each team gets 5 minutes.</a:t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1270097" y="1664068"/>
            <a:ext cx="4647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Roboto"/>
                <a:ea typeface="Roboto"/>
                <a:cs typeface="Roboto"/>
                <a:sym typeface="Roboto"/>
              </a:rPr>
              <a:t>You must:</a:t>
            </a:r>
            <a:endParaRPr b="1" sz="17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5" name="Google Shape;2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784" y="1791623"/>
            <a:ext cx="159675" cy="15892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6"/>
          <p:cNvSpPr txBox="1"/>
          <p:nvPr/>
        </p:nvSpPr>
        <p:spPr>
          <a:xfrm>
            <a:off x="870734" y="2125018"/>
            <a:ext cx="46470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Show schema (DDL)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Show enabled extensions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SELECT extname FROM pg_extension;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Run search live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Run EXPLAIN ANALYZE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Explain ranking and indexing design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"/>
          <p:cNvSpPr/>
          <p:nvPr/>
        </p:nvSpPr>
        <p:spPr>
          <a:xfrm>
            <a:off x="3076131" y="3164650"/>
            <a:ext cx="2383800" cy="1227300"/>
          </a:xfrm>
          <a:prstGeom prst="roundRect">
            <a:avLst>
              <a:gd fmla="val 6656" name="adj"/>
            </a:avLst>
          </a:prstGeom>
          <a:solidFill>
            <a:srgbClr val="00B48A">
              <a:alpha val="12030"/>
            </a:srgbClr>
          </a:solidFill>
          <a:ln cap="flat" cmpd="sng" w="9525">
            <a:solidFill>
              <a:srgbClr val="00B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7"/>
          <p:cNvSpPr/>
          <p:nvPr/>
        </p:nvSpPr>
        <p:spPr>
          <a:xfrm>
            <a:off x="340513" y="3164650"/>
            <a:ext cx="2527800" cy="1227300"/>
          </a:xfrm>
          <a:prstGeom prst="roundRect">
            <a:avLst>
              <a:gd fmla="val 7420" name="adj"/>
            </a:avLst>
          </a:prstGeom>
          <a:solidFill>
            <a:srgbClr val="00B48A">
              <a:alpha val="1203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2942120" y="1594353"/>
            <a:ext cx="331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accent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Thank you!</a:t>
            </a:r>
            <a:endParaRPr sz="4000">
              <a:solidFill>
                <a:schemeClr val="accent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214" name="Google Shape;214;p17"/>
          <p:cNvSpPr txBox="1"/>
          <p:nvPr/>
        </p:nvSpPr>
        <p:spPr>
          <a:xfrm>
            <a:off x="221950" y="4703288"/>
            <a:ext cx="93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Follow Us</a:t>
            </a:r>
            <a:endParaRPr b="1" sz="12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5" name="Google Shape;2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8422" y="4769239"/>
            <a:ext cx="237377" cy="237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7952" y="4769239"/>
            <a:ext cx="237377" cy="237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24593" y="4769240"/>
            <a:ext cx="237377" cy="237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04120" y="4735313"/>
            <a:ext cx="305216" cy="3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51485" y="4769240"/>
            <a:ext cx="237377" cy="237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21266" y="4769240"/>
            <a:ext cx="237377" cy="2373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1" name="Google Shape;221;p17"/>
          <p:cNvCxnSpPr/>
          <p:nvPr/>
        </p:nvCxnSpPr>
        <p:spPr>
          <a:xfrm>
            <a:off x="317250" y="4636200"/>
            <a:ext cx="8509500" cy="0"/>
          </a:xfrm>
          <a:prstGeom prst="straightConnector1">
            <a:avLst/>
          </a:prstGeom>
          <a:noFill/>
          <a:ln cap="flat" cmpd="sng" w="9525">
            <a:solidFill>
              <a:srgbClr val="61839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17"/>
          <p:cNvSpPr txBox="1"/>
          <p:nvPr/>
        </p:nvSpPr>
        <p:spPr>
          <a:xfrm>
            <a:off x="428833" y="3533755"/>
            <a:ext cx="20394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175 Canal Street</a:t>
            </a:r>
            <a:br>
              <a:rPr lang="en" sz="12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lang="en" sz="12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6th Floor</a:t>
            </a:r>
            <a:endParaRPr sz="12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Manchester, NH 03101</a:t>
            </a:r>
            <a:endParaRPr sz="12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23" name="Google Shape;223;p17"/>
          <p:cNvSpPr txBox="1"/>
          <p:nvPr/>
        </p:nvSpPr>
        <p:spPr>
          <a:xfrm>
            <a:off x="428839" y="3201325"/>
            <a:ext cx="234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Manchester</a:t>
            </a:r>
            <a:r>
              <a:rPr b="1"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, NH (HQ)</a:t>
            </a:r>
            <a:endParaRPr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17"/>
          <p:cNvSpPr txBox="1"/>
          <p:nvPr/>
        </p:nvSpPr>
        <p:spPr>
          <a:xfrm>
            <a:off x="3159764" y="3513994"/>
            <a:ext cx="16971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93 Summer Street</a:t>
            </a:r>
            <a:endParaRPr sz="12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4th Floor</a:t>
            </a:r>
            <a:br>
              <a:rPr lang="en" sz="12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lang="en" sz="12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Boston, MA 02110</a:t>
            </a:r>
            <a:endParaRPr sz="12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25" name="Google Shape;225;p17"/>
          <p:cNvSpPr txBox="1"/>
          <p:nvPr/>
        </p:nvSpPr>
        <p:spPr>
          <a:xfrm>
            <a:off x="3154658" y="3201329"/>
            <a:ext cx="131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Boston, MA</a:t>
            </a:r>
            <a:endParaRPr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6" name="Google Shape;226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17633" y="627914"/>
            <a:ext cx="2565473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7"/>
          <p:cNvSpPr/>
          <p:nvPr/>
        </p:nvSpPr>
        <p:spPr>
          <a:xfrm>
            <a:off x="5673910" y="3164650"/>
            <a:ext cx="3186300" cy="1227300"/>
          </a:xfrm>
          <a:prstGeom prst="roundRect">
            <a:avLst>
              <a:gd fmla="val 7927" name="adj"/>
            </a:avLst>
          </a:prstGeom>
          <a:solidFill>
            <a:srgbClr val="00B48A">
              <a:alpha val="12030"/>
            </a:srgbClr>
          </a:solidFill>
          <a:ln cap="flat" cmpd="sng" w="9525">
            <a:solidFill>
              <a:srgbClr val="00B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5805405" y="3551125"/>
            <a:ext cx="27786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2nd Floor, Eastface Behind Maruti Suzuki ARENA Isckon Ambli Road, Ambli Ahmedabad GJ 380058 IN.</a:t>
            </a:r>
            <a:endParaRPr sz="12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29" name="Google Shape;229;p17"/>
          <p:cNvSpPr txBox="1"/>
          <p:nvPr/>
        </p:nvSpPr>
        <p:spPr>
          <a:xfrm>
            <a:off x="5805406" y="3201329"/>
            <a:ext cx="180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Ahmedabad, India</a:t>
            </a:r>
            <a:endParaRPr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17"/>
          <p:cNvSpPr/>
          <p:nvPr/>
        </p:nvSpPr>
        <p:spPr>
          <a:xfrm flipH="1" rot="-5400000">
            <a:off x="8379285" y="-11428"/>
            <a:ext cx="772500" cy="772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17"/>
          <p:cNvPicPr preferRelativeResize="0"/>
          <p:nvPr/>
        </p:nvPicPr>
        <p:blipFill rotWithShape="1">
          <a:blip r:embed="rId10">
            <a:alphaModFix/>
          </a:blip>
          <a:srcRect b="0" l="-3696" r="75963" t="0"/>
          <a:stretch/>
        </p:blipFill>
        <p:spPr>
          <a:xfrm>
            <a:off x="8712144" y="80425"/>
            <a:ext cx="386100" cy="318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York_IE">
      <a:dk1>
        <a:srgbClr val="071E22"/>
      </a:dk1>
      <a:lt1>
        <a:srgbClr val="FFFFFF"/>
      </a:lt1>
      <a:dk2>
        <a:srgbClr val="3E505B"/>
      </a:dk2>
      <a:lt2>
        <a:srgbClr val="618395"/>
      </a:lt2>
      <a:accent1>
        <a:srgbClr val="00B48A"/>
      </a:accent1>
      <a:accent2>
        <a:srgbClr val="8AB0AB"/>
      </a:accent2>
      <a:accent3>
        <a:srgbClr val="ECD67F"/>
      </a:accent3>
      <a:accent4>
        <a:srgbClr val="EFEBEA"/>
      </a:accent4>
      <a:accent5>
        <a:srgbClr val="284256"/>
      </a:accent5>
      <a:accent6>
        <a:srgbClr val="192530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